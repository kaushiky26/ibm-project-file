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6.svg"/><Relationship Id="rId5" Type="http://schemas.openxmlformats.org/officeDocument/2006/relationships/image" Target="../media/image11.png"/><Relationship Id="rId4" Type="http://schemas.openxmlformats.org/officeDocument/2006/relationships/image" Target="../media/image4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8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8.sv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jpeg"/><Relationship Id="rId2" Type="http://schemas.openxmlformats.org/officeDocument/2006/relationships/image" Target="../media/image8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jpeg"/><Relationship Id="rId2" Type="http://schemas.openxmlformats.org/officeDocument/2006/relationships/image" Target="../media/image8.sv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14.png"/><Relationship Id="rId6" Type="http://schemas.openxmlformats.org/officeDocument/2006/relationships/image" Target="../media/image6.svg"/><Relationship Id="rId5" Type="http://schemas.openxmlformats.org/officeDocument/2006/relationships/image" Target="../media/image11.png"/><Relationship Id="rId4" Type="http://schemas.openxmlformats.org/officeDocument/2006/relationships/image" Target="../media/image4.sv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13428" y="7008107"/>
            <a:ext cx="8261144" cy="2051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0"/>
              </a:lnSpc>
            </a:pPr>
            <a:r>
              <a:rPr lang="en-US" sz="3655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Kaushik Yadav</a:t>
            </a:r>
            <a:endParaRPr lang="en-US" sz="3655" spc="109">
              <a:solidFill>
                <a:srgbClr val="3F3E3A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  <a:p>
            <a:pPr algn="ctr">
              <a:lnSpc>
                <a:spcPts val="5480"/>
              </a:lnSpc>
            </a:pPr>
            <a:r>
              <a:rPr lang="en-US" sz="3655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Btech (IBM)</a:t>
            </a:r>
            <a:endParaRPr lang="en-US" sz="3655" spc="109">
              <a:solidFill>
                <a:srgbClr val="3F3E3A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  <a:p>
            <a:pPr marL="0" lvl="0" indent="0" algn="ctr">
              <a:lnSpc>
                <a:spcPts val="5480"/>
              </a:lnSpc>
              <a:spcBef>
                <a:spcPct val="0"/>
              </a:spcBef>
            </a:pPr>
            <a:r>
              <a:rPr lang="en-US" sz="3655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2</a:t>
            </a:r>
            <a:r>
              <a:rPr lang="en-US" sz="3655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nd</a:t>
            </a:r>
            <a:r>
              <a:rPr lang="en-US" sz="3655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Year</a:t>
            </a:r>
            <a:endParaRPr lang="en-US" sz="3655" spc="109">
              <a:solidFill>
                <a:srgbClr val="3F3E3A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6720" y="989330"/>
            <a:ext cx="16203295" cy="46748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14990"/>
              </a:lnSpc>
            </a:pPr>
            <a:r>
              <a:rPr lang="en-US" sz="13755" spc="412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CL</a:t>
            </a:r>
            <a:r>
              <a:rPr lang="en-US" sz="13755" spc="412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OUD DEPLOYMENT MODELS </a:t>
            </a:r>
            <a:endParaRPr lang="en-US" sz="13755" spc="412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8" name="Freeform 8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97962" y="4103283"/>
            <a:ext cx="11092077" cy="431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0" lvl="1" indent="-377825" algn="just">
              <a:lnSpc>
                <a:spcPts val="4900"/>
              </a:lnSpc>
              <a:buFont typeface="Arial" panose="020B0604020202090204"/>
              <a:buChar char="•"/>
            </a:pPr>
            <a:r>
              <a:rPr lang="en-US" sz="3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Cloud deployment models describe how cloud services are made available to users.</a:t>
            </a:r>
            <a:endParaRPr lang="en-US" sz="350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  <a:p>
            <a:pPr marL="755650" lvl="1" indent="-377825" algn="just">
              <a:lnSpc>
                <a:spcPts val="4900"/>
              </a:lnSpc>
              <a:buFont typeface="Arial" panose="020B0604020202090204"/>
              <a:buChar char="•"/>
            </a:pPr>
            <a:r>
              <a:rPr lang="en-US" sz="3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They differ in ownership, security level, cost, and accessibility.</a:t>
            </a:r>
            <a:endParaRPr lang="en-US" sz="350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  <a:p>
            <a:pPr marL="755650" lvl="1" indent="-377825" algn="just">
              <a:lnSpc>
                <a:spcPts val="4900"/>
              </a:lnSpc>
              <a:buFont typeface="Arial" panose="020B0604020202090204"/>
              <a:buChar char="•"/>
            </a:pPr>
            <a:r>
              <a:rPr lang="en-US" sz="3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Choosing the right model helps organizations balance data security, scalability, and budget.</a:t>
            </a:r>
            <a:endParaRPr lang="en-US" sz="350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  <a:p>
            <a:pPr algn="just">
              <a:lnSpc>
                <a:spcPts val="4900"/>
              </a:lnSpc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3400003" y="2467693"/>
            <a:ext cx="11598214" cy="146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6345" spc="63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U</a:t>
            </a:r>
            <a:r>
              <a:rPr lang="en-US" sz="6345" spc="63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NDERSTANDING CLOUD DEPLOYMENT MODELS</a:t>
            </a:r>
            <a:endParaRPr lang="en-US" sz="6345" spc="63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9780" y="902335"/>
            <a:ext cx="11887200" cy="23920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6695"/>
              </a:lnSpc>
              <a:spcBef>
                <a:spcPct val="0"/>
              </a:spcBef>
            </a:pPr>
            <a:r>
              <a:rPr lang="en-US" sz="7440" u="none" strike="noStrik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PUBLIC CLOUD – OPEN, SCALABLE &amp; COST-EFFECTIVE</a:t>
            </a:r>
            <a:endParaRPr lang="en-US" sz="7440" u="none" strike="noStrike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776933"/>
            <a:ext cx="11398853" cy="426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Infrastructure owned and operated by third-party cloud providers.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Resources like storage, servers, databases are shared across users.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Offers high scalability, low cost, and no maintenance overhead.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Ideal for startups, students, small businesses.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Real-world examples: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Gmail, Google Drive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Amazon Web Services (AWS)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Microsoft Azure, Google Cloud Platform (GCP)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l">
              <a:lnSpc>
                <a:spcPts val="3780"/>
              </a:lnSpc>
            </a:p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2653379" y="3824558"/>
            <a:ext cx="5107082" cy="3701135"/>
            <a:chOff x="0" y="0"/>
            <a:chExt cx="1174363" cy="8510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4363" cy="851069"/>
            </a:xfrm>
            <a:custGeom>
              <a:avLst/>
              <a:gdLst/>
              <a:ahLst/>
              <a:cxnLst/>
              <a:rect l="l" t="t" r="r" b="b"/>
              <a:pathLst>
                <a:path w="1174363" h="851069">
                  <a:moveTo>
                    <a:pt x="0" y="0"/>
                  </a:moveTo>
                  <a:lnTo>
                    <a:pt x="1174363" y="0"/>
                  </a:lnTo>
                  <a:lnTo>
                    <a:pt x="1174363" y="851069"/>
                  </a:lnTo>
                  <a:lnTo>
                    <a:pt x="0" y="851069"/>
                  </a:lnTo>
                  <a:close/>
                </a:path>
              </a:pathLst>
            </a:custGeom>
            <a:blipFill>
              <a:blip r:embed="rId3"/>
              <a:stretch>
                <a:fillRect l="-12474" r="-1247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9887" y="1525110"/>
            <a:ext cx="11887033" cy="176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5"/>
              </a:lnSpc>
              <a:spcBef>
                <a:spcPct val="0"/>
              </a:spcBef>
            </a:pPr>
            <a:r>
              <a:rPr lang="en-US" sz="7440" u="none" strike="noStrik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PRIVATE CLOUD – HIGH SECURITY &amp; FULL CONTROL</a:t>
            </a:r>
            <a:endParaRPr lang="en-US" sz="7440" u="none" strike="noStrike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4067175"/>
            <a:ext cx="11398853" cy="47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Cloud e</a:t>
            </a: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nvironment is used exclusively by one organization.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Can be hosted on-site or by a third-party vendor.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Provides maximum security, privacy, and customization.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Suitable for industries handling sensitive data (banking, defense, healthcare).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Examples: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 bank’s internal cloud data center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Government’s NIC private cloud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Healthcare systems storing patient data securely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l">
              <a:lnSpc>
                <a:spcPts val="3780"/>
              </a:lnSpc>
            </a:p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2427585" y="3848100"/>
            <a:ext cx="5542915" cy="4859020"/>
            <a:chOff x="0" y="0"/>
            <a:chExt cx="1280665" cy="1323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0665" cy="1323331"/>
            </a:xfrm>
            <a:custGeom>
              <a:avLst/>
              <a:gdLst/>
              <a:ahLst/>
              <a:cxnLst/>
              <a:rect l="l" t="t" r="r" b="b"/>
              <a:pathLst>
                <a:path w="1280665" h="1323331">
                  <a:moveTo>
                    <a:pt x="0" y="0"/>
                  </a:moveTo>
                  <a:lnTo>
                    <a:pt x="1280665" y="0"/>
                  </a:lnTo>
                  <a:lnTo>
                    <a:pt x="1280665" y="1323331"/>
                  </a:lnTo>
                  <a:lnTo>
                    <a:pt x="0" y="1323331"/>
                  </a:lnTo>
                  <a:close/>
                </a:path>
              </a:pathLst>
            </a:custGeom>
            <a:blipFill>
              <a:blip r:embed="rId3"/>
              <a:stretch>
                <a:fillRect l="-1665" r="-166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9887" y="1525110"/>
            <a:ext cx="11887033" cy="176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5"/>
              </a:lnSpc>
              <a:spcBef>
                <a:spcPct val="0"/>
              </a:spcBef>
            </a:pPr>
            <a:r>
              <a:rPr lang="en-US" sz="744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HY</a:t>
            </a:r>
            <a:r>
              <a:rPr lang="en-US" sz="7440" u="none" strike="noStrik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BRID CLOUD – MIX OF PUBLIC + PRIVATE</a:t>
            </a:r>
            <a:endParaRPr lang="en-US" sz="7440" u="none" strike="noStrike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564255"/>
            <a:ext cx="11398853" cy="569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Combines private cloud for sensitive data and public cloud for general tasks.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Allows data and applications to move between environments.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Provides a balance of security, cost-efficiency, and performance.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Used by organizations that need to scale without compromising sensitive data.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Examples: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Hospital storing patient medical records privately but using public cloud for appointment systems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E-commerce companies keeping payment data private while using AWS for heavy traffic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l">
              <a:lnSpc>
                <a:spcPts val="3780"/>
              </a:lnSpc>
            </a:p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2645390" y="4114800"/>
            <a:ext cx="5427980" cy="3561715"/>
            <a:chOff x="0" y="0"/>
            <a:chExt cx="1399723" cy="7285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9723" cy="728539"/>
            </a:xfrm>
            <a:custGeom>
              <a:avLst/>
              <a:gdLst/>
              <a:ahLst/>
              <a:cxnLst/>
              <a:rect l="l" t="t" r="r" b="b"/>
              <a:pathLst>
                <a:path w="1399723" h="728539">
                  <a:moveTo>
                    <a:pt x="0" y="0"/>
                  </a:moveTo>
                  <a:lnTo>
                    <a:pt x="1399723" y="0"/>
                  </a:lnTo>
                  <a:lnTo>
                    <a:pt x="1399723" y="728539"/>
                  </a:lnTo>
                  <a:lnTo>
                    <a:pt x="0" y="728539"/>
                  </a:lnTo>
                  <a:close/>
                </a:path>
              </a:pathLst>
            </a:custGeom>
            <a:blipFill>
              <a:blip r:embed="rId3"/>
              <a:stretch>
                <a:fillRect t="-4035" b="-40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9780" y="1142365"/>
            <a:ext cx="12622530" cy="21520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6695"/>
              </a:lnSpc>
              <a:spcBef>
                <a:spcPct val="0"/>
              </a:spcBef>
            </a:pPr>
            <a:r>
              <a:rPr lang="en-US" sz="744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COMM</a:t>
            </a:r>
            <a:r>
              <a:rPr lang="en-US" sz="7440" u="none" strike="noStrik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UNITY CLOUD – SHARED BY SIMILAR USERS</a:t>
            </a:r>
            <a:endParaRPr lang="en-US" sz="7440" u="none" strike="noStrike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538808"/>
            <a:ext cx="11398853" cy="47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Shared i</a:t>
            </a: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nfrastructure for organizations with common goals or regulations.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Cost, security, and resources are shared.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Best for groups that need collaboration and similar compliance rules.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Examples: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Group of universities sharing a research cloud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Healthcare organizations jointly using a cloud for medical research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90204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Government departments sharing a cloud for public welfare data</a:t>
            </a: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l">
              <a:lnSpc>
                <a:spcPts val="3780"/>
              </a:lnSpc>
            </a:p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2653379" y="3294427"/>
            <a:ext cx="5107082" cy="4231266"/>
            <a:chOff x="0" y="0"/>
            <a:chExt cx="1174363" cy="9729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4363" cy="972971"/>
            </a:xfrm>
            <a:custGeom>
              <a:avLst/>
              <a:gdLst/>
              <a:ahLst/>
              <a:cxnLst/>
              <a:rect l="l" t="t" r="r" b="b"/>
              <a:pathLst>
                <a:path w="1174363" h="972971">
                  <a:moveTo>
                    <a:pt x="0" y="0"/>
                  </a:moveTo>
                  <a:lnTo>
                    <a:pt x="1174363" y="0"/>
                  </a:lnTo>
                  <a:lnTo>
                    <a:pt x="1174363" y="972971"/>
                  </a:lnTo>
                  <a:lnTo>
                    <a:pt x="0" y="972971"/>
                  </a:lnTo>
                  <a:close/>
                </a:path>
              </a:pathLst>
            </a:custGeom>
            <a:blipFill>
              <a:blip r:embed="rId3"/>
              <a:stretch>
                <a:fillRect l="-3085" r="-308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3816" y="3975664"/>
            <a:ext cx="8688208" cy="3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5"/>
              </a:lnSpc>
            </a:pPr>
            <a:r>
              <a:rPr lang="en-US" sz="16715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  <a:endParaRPr lang="en-US" sz="16715" spc="501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173200" y="62870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</Words>
  <Application>WPS Presentation</Application>
  <PresentationFormat>On-screen Show (4:3)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Dynapuff Condensed</vt:lpstr>
      <vt:lpstr>Thonburi</vt:lpstr>
      <vt:lpstr>Arial</vt:lpstr>
      <vt:lpstr>Dynapuff SemiCondensed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Deployment Models</dc:title>
  <dc:creator/>
  <cp:lastModifiedBy>Shami verma</cp:lastModifiedBy>
  <cp:revision>2</cp:revision>
  <dcterms:created xsi:type="dcterms:W3CDTF">2025-11-20T16:55:54Z</dcterms:created>
  <dcterms:modified xsi:type="dcterms:W3CDTF">2025-11-20T16:55:54Z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32A04D6CD8648B8D1A481F69E9F70119_42</vt:lpwstr>
  </property>
  <property fmtid="{D5CDD505-2E9C-101B-9397-08002B2CF9AE}" pid="3" name="KSOProductBuildVer">
    <vt:lpwstr>1033-12.1.23143.23143</vt:lpwstr>
  </property>
</Properties>
</file>